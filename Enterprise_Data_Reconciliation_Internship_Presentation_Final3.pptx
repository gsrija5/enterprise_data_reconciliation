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62" r:id="rId4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0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732520" y="0"/>
            <a:ext cx="3456432" cy="6858000"/>
          </a:xfrm>
          <a:prstGeom prst="rect">
            <a:avLst/>
          </a:prstGeom>
          <a:solidFill>
            <a:srgbClr val="19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732520" y="0"/>
            <a:ext cx="109728" cy="6858000"/>
          </a:xfrm>
          <a:prstGeom prst="rect">
            <a:avLst/>
          </a:prstGeom>
          <a:solidFill>
            <a:srgbClr val="1A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326880" y="868680"/>
            <a:ext cx="2011680" cy="2011680"/>
          </a:xfrm>
          <a:prstGeom prst="ellipse">
            <a:avLst/>
          </a:prstGeom>
          <a:solidFill>
            <a:srgbClr val="1A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95560" y="2148840"/>
            <a:ext cx="1143000" cy="1143000"/>
          </a:xfrm>
          <a:prstGeom prst="ellipse">
            <a:avLst/>
          </a:prstGeom>
          <a:solidFill>
            <a:srgbClr val="F5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098280" y="3200400"/>
            <a:ext cx="1508760" cy="1508760"/>
          </a:xfrm>
          <a:prstGeom prst="ellipse">
            <a:avLst/>
          </a:prstGeom>
          <a:solidFill>
            <a:srgbClr val="3A5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005840"/>
            <a:ext cx="4572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1AB7A6"/>
                </a:solidFill>
                <a:latin typeface="Aptos"/>
              </a:defRPr>
            </a:pPr>
            <a:r>
              <a:t>INTERNSHIP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600200"/>
            <a:ext cx="7498079" cy="1417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Enterprise Data</a:t>
            </a:r>
            <a:br/>
            <a:r>
              <a:t>Reconciliation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310128"/>
            <a:ext cx="704088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900" b="0">
                <a:solidFill>
                  <a:srgbClr val="D0DEEA"/>
                </a:solidFill>
                <a:latin typeface="Aptos"/>
              </a:defRPr>
            </a:pPr>
            <a:r>
              <a:t>Turning messy transaction logs into clear financial 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4572000"/>
            <a:ext cx="6309360" cy="960120"/>
          </a:xfrm>
          <a:prstGeom prst="roundRect">
            <a:avLst/>
          </a:prstGeom>
          <a:solidFill>
            <a:srgbClr val="19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" y="4855464"/>
            <a:ext cx="58978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Python  •  Pandas  •  Regex  •  SQLite  •  Matplotlib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97880"/>
            <a:ext cx="4114800" cy="2739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C3D5E2"/>
                </a:solidFill>
                <a:latin typeface="Aptos"/>
              </a:defRPr>
            </a:pPr>
            <a:r>
              <a:rPr dirty="0"/>
              <a:t>Presented by: </a:t>
            </a:r>
            <a:r>
              <a:rPr lang="en-US" dirty="0"/>
              <a:t>Gummadavelli Srija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822960" y="6245352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1AB7A6"/>
                </a:solidFill>
                <a:latin typeface="Aptos"/>
              </a:defRPr>
            </a:pPr>
            <a:r>
              <a:t>Internship submission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528816"/>
            <a:ext cx="5029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800" b="1">
                <a:solidFill>
                  <a:srgbClr val="A0B4C6"/>
                </a:solidFill>
                <a:latin typeface="Aptos"/>
              </a:defRPr>
            </a:pPr>
            <a:r>
              <a:t>ENTERPRISE DATA RECONCILIATION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A0B4C6"/>
                </a:solidFill>
                <a:latin typeface="Aptos"/>
              </a:defRPr>
            </a:pPr>
            <a:r>
              <a:t>1 / 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217"/>
    </mc:Choice>
    <mc:Fallback>
      <p:transition spd="slow" advTm="3221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A24D1-817C-1666-3EB5-7A301D7D3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11138169" cy="1143000"/>
          </a:xfrm>
        </p:spPr>
        <p:txBody>
          <a:bodyPr>
            <a:normAutofit/>
          </a:bodyPr>
          <a:lstStyle/>
          <a:p>
            <a:r>
              <a:rPr lang="en-IN" b="1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FF75C-C22B-F800-D1EE-3F4CC918F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11138170" cy="4525963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Enterprise transaction data is often large, unstructured, and inconsistent, making accurate financial reconciliation difficult.</a:t>
            </a:r>
          </a:p>
          <a:p>
            <a:pPr marL="0" indent="0">
              <a:buNone/>
            </a:pPr>
            <a:r>
              <a:rPr lang="en-IN" dirty="0"/>
              <a:t>Key challenges</a:t>
            </a:r>
          </a:p>
          <a:p>
            <a:pPr marL="514350" indent="-514350">
              <a:buAutoNum type="arabicPeriod"/>
            </a:pPr>
            <a:r>
              <a:rPr lang="en-IN" dirty="0"/>
              <a:t>Large Dataset</a:t>
            </a:r>
          </a:p>
          <a:p>
            <a:pPr marL="0" indent="0">
              <a:buNone/>
            </a:pPr>
            <a:r>
              <a:rPr lang="en-IN" dirty="0"/>
              <a:t>	- Processing around 100,000 records efficiently requires optimized data operations.</a:t>
            </a:r>
          </a:p>
          <a:p>
            <a:pPr marL="0" indent="0">
              <a:buNone/>
            </a:pPr>
            <a:r>
              <a:rPr lang="en-IN" dirty="0"/>
              <a:t>2. Unstructured Logs</a:t>
            </a:r>
          </a:p>
          <a:p>
            <a:pPr marL="0" indent="0">
              <a:buNone/>
            </a:pPr>
            <a:r>
              <a:rPr lang="en-IN" dirty="0"/>
              <a:t>	- Transaction details must be extracted from messy server logs using Regex.</a:t>
            </a:r>
          </a:p>
          <a:p>
            <a:pPr marL="0" indent="0">
              <a:buNone/>
            </a:pPr>
            <a:r>
              <a:rPr lang="en-IN" dirty="0"/>
              <a:t>3. Missing Weekend Exchange Rates</a:t>
            </a:r>
          </a:p>
          <a:p>
            <a:pPr marL="0" indent="0">
              <a:buNone/>
            </a:pPr>
            <a:r>
              <a:rPr lang="en-IN" dirty="0"/>
              <a:t>	- Weekend transactions need appropriate exchange-rate matching to avoid losing records.</a:t>
            </a:r>
          </a:p>
          <a:p>
            <a:pPr marL="0" indent="0">
              <a:buNone/>
            </a:pPr>
            <a:r>
              <a:rPr lang="en-IN" dirty="0"/>
              <a:t>4. Historical Customer Records</a:t>
            </a:r>
          </a:p>
          <a:p>
            <a:pPr marL="0" indent="0">
              <a:buNone/>
            </a:pPr>
            <a:r>
              <a:rPr lang="en-IN" dirty="0"/>
              <a:t>	- The latest customer record must be identified before matching transactions.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Goal: Build a clean, accurate, and unified dataset for financial analysis.</a:t>
            </a:r>
          </a:p>
        </p:txBody>
      </p:sp>
    </p:spTree>
    <p:extLst>
      <p:ext uri="{BB962C8B-B14F-4D97-AF65-F5344CB8AC3E}">
        <p14:creationId xmlns:p14="http://schemas.microsoft.com/office/powerpoint/2010/main" val="13667598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1616"/>
    </mc:Choice>
    <mc:Fallback>
      <p:transition spd="slow" advTm="8161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F6E82-566B-52B1-EC35-200C84D46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1215990" cy="1143000"/>
          </a:xfrm>
        </p:spPr>
        <p:txBody>
          <a:bodyPr>
            <a:normAutofit/>
          </a:bodyPr>
          <a:lstStyle/>
          <a:p>
            <a:r>
              <a:rPr lang="en-IN" b="1" dirty="0"/>
              <a:t>Project Solution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EFA73-FF3C-DDD7-FAD5-27976C8E8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11215991" cy="4525963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IN" dirty="0"/>
              <a:t>Python and Pandas: Process and clean large datasets efficiently.</a:t>
            </a:r>
          </a:p>
          <a:p>
            <a:pPr lvl="0"/>
            <a:r>
              <a:rPr lang="en-IN" dirty="0"/>
              <a:t>Regex: Extract transaction details from unstructured server logs.</a:t>
            </a:r>
          </a:p>
          <a:p>
            <a:pPr lvl="0"/>
            <a:r>
              <a:rPr lang="en-IN" dirty="0"/>
              <a:t>SQL Window Functions: Identify the latest customer records and filter active users.</a:t>
            </a:r>
          </a:p>
          <a:p>
            <a:pPr lvl="0"/>
            <a:r>
              <a:rPr lang="en-IN" dirty="0"/>
              <a:t>Exchange-rate matching: Convert EUR transactions into USD and handle weekend dates appropriately.</a:t>
            </a:r>
          </a:p>
          <a:p>
            <a:pPr lvl="0"/>
            <a:r>
              <a:rPr lang="en-IN" dirty="0"/>
              <a:t>Matplotlib / Seaborn: Visualize monthly revenue and the top five customers.</a:t>
            </a:r>
          </a:p>
          <a:p>
            <a:pPr marL="0" indent="0">
              <a:buNone/>
            </a:pPr>
            <a:r>
              <a:rPr lang="en-IN" dirty="0"/>
              <a:t>Expected outcome: A reconciled financial dataset and clear revenue insights.</a:t>
            </a:r>
          </a:p>
        </p:txBody>
      </p:sp>
    </p:spTree>
    <p:extLst>
      <p:ext uri="{BB962C8B-B14F-4D97-AF65-F5344CB8AC3E}">
        <p14:creationId xmlns:p14="http://schemas.microsoft.com/office/powerpoint/2010/main" val="24370627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4279"/>
    </mc:Choice>
    <mc:Fallback>
      <p:transition spd="slow" advTm="9427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1AB7A6"/>
                </a:solidFill>
                <a:latin typeface="Aptos"/>
              </a:defRPr>
            </a:pPr>
            <a:r>
              <a:t>01  / 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112039"/>
                </a:solidFill>
                <a:latin typeface="Aptos"/>
              </a:defRPr>
            </a:pPr>
            <a:r>
              <a:t>What does the project 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5B6D7F"/>
                </a:solidFill>
                <a:latin typeface="Aptos"/>
              </a:defRPr>
            </a:pPr>
            <a:r>
              <a:t>The goal is to combine messy business data and turn it into useful financial information.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4846320" cy="4160520"/>
          </a:xfrm>
          <a:prstGeom prst="roundRect">
            <a:avLst/>
          </a:prstGeom>
          <a:solidFill>
            <a:srgbClr val="112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114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1AB7A6"/>
                </a:solidFill>
                <a:latin typeface="Aptos"/>
              </a:defRPr>
            </a:pPr>
            <a:r>
              <a:t>MAIN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42032"/>
            <a:ext cx="4160520" cy="1051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Create one reliable view of transactions, customers, and USD revenue.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406908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0">
                <a:solidFill>
                  <a:srgbClr val="D3E0EB"/>
                </a:solidFill>
                <a:latin typeface="Aptos"/>
              </a:defRPr>
            </a:pPr>
            <a:r>
              <a:t>The source data includes raw server logs, daily exchange rates, and customer history.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828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1AB7A6"/>
                </a:solidFill>
                <a:latin typeface="Aptos"/>
              </a:defRPr>
            </a:pPr>
            <a:r>
              <a:t>TOOLS 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94960"/>
            <a:ext cx="41605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t>Python • Pandas • Regex • SQLite • Matplotlib / Seaborn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828800"/>
            <a:ext cx="2743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112039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2212848"/>
            <a:ext cx="544068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199632" y="2331720"/>
            <a:ext cx="411480" cy="411480"/>
          </a:xfrm>
          <a:prstGeom prst="ellipse">
            <a:avLst/>
          </a:prstGeom>
          <a:solidFill>
            <a:srgbClr val="1A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99632" y="240487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2322576"/>
            <a:ext cx="2743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112039"/>
                </a:solidFill>
                <a:latin typeface="Aptos"/>
              </a:defRPr>
            </a:pPr>
            <a:r>
              <a:t>Find latest customers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2578608"/>
            <a:ext cx="4160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50" b="0">
                <a:solidFill>
                  <a:srgbClr val="5B6D7F"/>
                </a:solidFill>
                <a:latin typeface="Aptos"/>
              </a:defRPr>
            </a:pPr>
            <a:r>
              <a:t>SQL window function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3054096"/>
            <a:ext cx="544068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199632" y="3172968"/>
            <a:ext cx="411480" cy="411480"/>
          </a:xfrm>
          <a:prstGeom prst="ellipse">
            <a:avLst/>
          </a:prstGeom>
          <a:solidFill>
            <a:srgbClr val="F5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99632" y="3246120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4848" y="3163824"/>
            <a:ext cx="2743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112039"/>
                </a:solidFill>
                <a:latin typeface="Aptos"/>
              </a:defRPr>
            </a:pPr>
            <a:r>
              <a:t>Read and clean logs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3419856"/>
            <a:ext cx="4160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50" b="0">
                <a:solidFill>
                  <a:srgbClr val="5B6D7F"/>
                </a:solidFill>
                <a:latin typeface="Aptos"/>
              </a:defRPr>
            </a:pPr>
            <a:r>
              <a:t>Regex + Pandas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3895344"/>
            <a:ext cx="544068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199632" y="4014215"/>
            <a:ext cx="411480" cy="411480"/>
          </a:xfrm>
          <a:prstGeom prst="ellipse">
            <a:avLst/>
          </a:prstGeom>
          <a:solidFill>
            <a:srgbClr val="468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99632" y="4087368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4848" y="4005072"/>
            <a:ext cx="2743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112039"/>
                </a:solidFill>
                <a:latin typeface="Aptos"/>
              </a:defRPr>
            </a:pPr>
            <a:r>
              <a:t>Convert and reconcile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848" y="4261104"/>
            <a:ext cx="4160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50" b="0">
                <a:solidFill>
                  <a:srgbClr val="5B6D7F"/>
                </a:solidFill>
                <a:latin typeface="Aptos"/>
              </a:defRPr>
            </a:pPr>
            <a:r>
              <a:t>Exchange rates + joins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4736592"/>
            <a:ext cx="544068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199632" y="4855464"/>
            <a:ext cx="411480" cy="411480"/>
          </a:xfrm>
          <a:prstGeom prst="ellipse">
            <a:avLst/>
          </a:prstGeom>
          <a:solidFill>
            <a:srgbClr val="7D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99632" y="4928616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4848" y="4846320"/>
            <a:ext cx="2743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112039"/>
                </a:solidFill>
                <a:latin typeface="Aptos"/>
              </a:defRPr>
            </a:pPr>
            <a:r>
              <a:t>Summarize results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5102352"/>
            <a:ext cx="4160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50" b="0">
                <a:solidFill>
                  <a:srgbClr val="5B6D7F"/>
                </a:solidFill>
                <a:latin typeface="Aptos"/>
              </a:defRPr>
            </a:pPr>
            <a:r>
              <a:t>Charts + tables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5715000"/>
            <a:ext cx="53035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1">
                <a:solidFill>
                  <a:srgbClr val="112039"/>
                </a:solidFill>
                <a:latin typeface="Aptos"/>
              </a:defRPr>
            </a:pPr>
            <a:r>
              <a:t>Result: a monthly revenue view and a top-customer summary.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6528816"/>
            <a:ext cx="5029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800" b="1">
                <a:solidFill>
                  <a:srgbClr val="5B6D7F"/>
                </a:solidFill>
                <a:latin typeface="Aptos"/>
              </a:defRPr>
            </a:pPr>
            <a:r>
              <a:t>ENTERPRISE DATA RECONCILIATION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5B6D7F"/>
                </a:solidFill>
                <a:latin typeface="Aptos"/>
              </a:defRPr>
            </a:pPr>
            <a:r>
              <a:t>2 / 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416"/>
    </mc:Choice>
    <mc:Fallback>
      <p:transition spd="slow" advTm="70416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0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1AB7A6"/>
                </a:solidFill>
                <a:latin typeface="Aptos"/>
              </a:defRPr>
            </a:pPr>
            <a:r>
              <a:t>02  /  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Cleaning and extracting the source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C3D5E2"/>
                </a:solidFill>
                <a:latin typeface="Aptos"/>
              </a:defRPr>
            </a:pPr>
            <a:r>
              <a:t>Screenshots from the notebook show the SQL and Regex steps.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5440680" cy="4224528"/>
          </a:xfrm>
          <a:prstGeom prst="roundRect">
            <a:avLst/>
          </a:prstGeom>
          <a:solidFill>
            <a:srgbClr val="19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9632" y="1828800"/>
            <a:ext cx="5394960" cy="4224528"/>
          </a:xfrm>
          <a:prstGeom prst="roundRect">
            <a:avLst/>
          </a:prstGeom>
          <a:solidFill>
            <a:srgbClr val="19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93392"/>
            <a:ext cx="49377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1AB7A6"/>
                </a:solidFill>
                <a:latin typeface="Aptos"/>
              </a:defRPr>
            </a:pPr>
            <a:r>
              <a:t>PHASE 1  •  SQL CUSTOMER HISTORY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508" y="2336292"/>
            <a:ext cx="484124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(8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68" y="2359152"/>
            <a:ext cx="4795520" cy="2697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5230368"/>
            <a:ext cx="489204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Selected the latest record per user and kept current Active users.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742432"/>
            <a:ext cx="48920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C3D5E2"/>
                </a:solidFill>
                <a:latin typeface="Aptos"/>
              </a:defRPr>
            </a:pPr>
            <a:r>
              <a:t>14,183 active users shown in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993392"/>
            <a:ext cx="4846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1AB7A6"/>
                </a:solidFill>
                <a:latin typeface="Aptos"/>
              </a:defRPr>
            </a:pPr>
            <a:r>
              <a:t>PHASE 2  •  REGEX LOG EXTRACTION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71920" y="2336292"/>
            <a:ext cx="484124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(9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4780" y="2359152"/>
            <a:ext cx="4795520" cy="2697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28232" y="5230368"/>
            <a:ext cx="484632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Extracted date, user, product, and euro amount from raw logs.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5742432"/>
            <a:ext cx="48463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C3D5E2"/>
                </a:solidFill>
                <a:latin typeface="Aptos"/>
              </a:defRPr>
            </a:pPr>
            <a:r>
              <a:t>94,902 records extracted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28816"/>
            <a:ext cx="5029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800" b="1">
                <a:solidFill>
                  <a:srgbClr val="A0B4C6"/>
                </a:solidFill>
                <a:latin typeface="Aptos"/>
              </a:defRPr>
            </a:pPr>
            <a:r>
              <a:t>ENTERPRISE DATA RECONCILIATION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A0B4C6"/>
                </a:solidFill>
                <a:latin typeface="Aptos"/>
              </a:defRPr>
            </a:pPr>
            <a:r>
              <a:t>3 / 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7314"/>
    </mc:Choice>
    <mc:Fallback>
      <p:transition spd="slow" advTm="57314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1AB7A6"/>
                </a:solidFill>
                <a:latin typeface="Aptos"/>
              </a:defRPr>
            </a:pPr>
            <a:r>
              <a:t>03  /  FINANCIAL RECONCILIATION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112039"/>
                </a:solidFill>
                <a:latin typeface="Aptos"/>
              </a:defRPr>
            </a:pPr>
            <a:r>
              <a:t>Combining transactions, rates, and 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5B6D7F"/>
                </a:solidFill>
                <a:latin typeface="Aptos"/>
              </a:defRPr>
            </a:pPr>
            <a:r>
              <a:t>The final table shows transaction values after currency conversion and customer matching.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783080"/>
            <a:ext cx="740664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24560" y="1988820"/>
            <a:ext cx="679196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(1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419" y="2011680"/>
            <a:ext cx="6746240" cy="37947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75320" y="1783080"/>
            <a:ext cx="3310128" cy="4389120"/>
          </a:xfrm>
          <a:prstGeom prst="roundRect">
            <a:avLst/>
          </a:prstGeom>
          <a:solidFill>
            <a:srgbClr val="112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77072" y="2121408"/>
            <a:ext cx="26517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1AB7A6"/>
                </a:solidFill>
                <a:latin typeface="Aptos"/>
              </a:defRPr>
            </a:pPr>
            <a:r>
              <a:t>KEY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7072" y="2606040"/>
            <a:ext cx="26517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53,899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3200400"/>
            <a:ext cx="24688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0">
                <a:solidFill>
                  <a:srgbClr val="CDDCE8"/>
                </a:solidFill>
                <a:latin typeface="Aptos"/>
              </a:defRPr>
            </a:pPr>
            <a:r>
              <a:t>final reconciled records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77072" y="3913632"/>
            <a:ext cx="2606040" cy="22860"/>
          </a:xfrm>
          <a:prstGeom prst="rect">
            <a:avLst/>
          </a:prstGeom>
          <a:solidFill>
            <a:srgbClr val="1A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77072" y="4187952"/>
            <a:ext cx="256032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EUR values were converted to USD and matched with active customer records.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5486400"/>
            <a:ext cx="25603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F5B44A"/>
                </a:solidFill>
                <a:latin typeface="Aptos"/>
              </a:defRPr>
            </a:pPr>
            <a:r>
              <a:t>Note: confirm weekend exchange-rate matching in the final run.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528816"/>
            <a:ext cx="5029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800" b="1">
                <a:solidFill>
                  <a:srgbClr val="5B6D7F"/>
                </a:solidFill>
                <a:latin typeface="Aptos"/>
              </a:defRPr>
            </a:pPr>
            <a:r>
              <a:t>ENTERPRISE DATA RECONCILIATION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5B6D7F"/>
                </a:solidFill>
                <a:latin typeface="Aptos"/>
              </a:defRPr>
            </a:pPr>
            <a:r>
              <a:t>4 / 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6348"/>
    </mc:Choice>
    <mc:Fallback>
      <p:transition spd="slow" advTm="46348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0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1AB7A6"/>
                </a:solidFill>
                <a:latin typeface="Aptos"/>
              </a:defRPr>
            </a:pPr>
            <a:r>
              <a:t>04  / 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CFO dashboard: clear financial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C3D5E2"/>
                </a:solidFill>
                <a:latin typeface="Aptos"/>
              </a:defRPr>
            </a:pPr>
            <a:r>
              <a:t>The dashboard summarizes monthly revenue and highlights the top five customers.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55648"/>
            <a:ext cx="8001000" cy="4434840"/>
          </a:xfrm>
          <a:prstGeom prst="roundRect">
            <a:avLst/>
          </a:prstGeom>
          <a:solidFill>
            <a:srgbClr val="19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97508" y="1952244"/>
            <a:ext cx="6385559" cy="36118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(20261013-14015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368" y="1975104"/>
            <a:ext cx="6339839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669280"/>
            <a:ext cx="74066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CDDCE8"/>
                </a:solidFill>
                <a:latin typeface="Aptos"/>
              </a:defRPr>
            </a:pPr>
            <a:r>
              <a:t>Monthly revenue chart + top-five customer chart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1755648"/>
            <a:ext cx="2724912" cy="4434840"/>
          </a:xfrm>
          <a:prstGeom prst="roundRect">
            <a:avLst/>
          </a:prstGeom>
          <a:solidFill>
            <a:srgbClr val="19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0" y="2057400"/>
            <a:ext cx="21488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1AB7A6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25712" y="2542032"/>
            <a:ext cx="2148840" cy="2514600"/>
          </a:xfrm>
          <a:prstGeom prst="rect">
            <a:avLst/>
          </a:prstGeom>
          <a:noFill/>
        </p:spPr>
        <p:txBody>
          <a:bodyPr wrap="square" lIns="54864" tIns="36576" rIns="36576" bIns="36576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•  Automated data extraction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•  Combined transaction and customer data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•  Created revenue summaries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•  Visualized trends for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25712" y="5541264"/>
            <a:ext cx="20116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rPr dirty="0"/>
              <a:t>Thank you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528816"/>
            <a:ext cx="5029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800" b="1">
                <a:solidFill>
                  <a:srgbClr val="A0B4C6"/>
                </a:solidFill>
                <a:latin typeface="Aptos"/>
              </a:defRPr>
            </a:pPr>
            <a:r>
              <a:t>ENTERPRISE DATA RECONCILIATION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A0B4C6"/>
                </a:solidFill>
                <a:latin typeface="Aptos"/>
              </a:defRPr>
            </a:pPr>
            <a:r>
              <a:t>5 / 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8026"/>
    </mc:Choice>
    <mc:Fallback>
      <p:transition spd="slow" advTm="98026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526</Words>
  <Application>Microsoft Office PowerPoint</Application>
  <PresentationFormat>Widescreen</PresentationFormat>
  <Paragraphs>85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Problem Statement</vt:lpstr>
      <vt:lpstr>Project Solution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Data Reconciliation</dc:title>
  <dc:subject>Internship project presentation</dc:subject>
  <dc:creator>Student</dc:creator>
  <cp:keywords>data reconciliation, Python, Pandas, SQL, Regex, dashboard</cp:keywords>
  <dc:description>generated using python-pptx</dc:description>
  <cp:lastModifiedBy>Gummadavelli Srija</cp:lastModifiedBy>
  <cp:revision>3</cp:revision>
  <dcterms:created xsi:type="dcterms:W3CDTF">2013-01-27T09:14:16Z</dcterms:created>
  <dcterms:modified xsi:type="dcterms:W3CDTF">2026-10-13T18:27:02Z</dcterms:modified>
  <cp:category/>
</cp:coreProperties>
</file>